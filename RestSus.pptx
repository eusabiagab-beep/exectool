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nesto Usabiaga Berlanga" userId="be1f46aa-0599-4802-adff-133e439c62c7" providerId="ADAL" clId="{2A5E34EC-CE10-4B86-B8A7-198EDDE604B0}"/>
    <pc:docChg chg="modSld">
      <pc:chgData name="Ernesto Usabiaga Berlanga" userId="be1f46aa-0599-4802-adff-133e439c62c7" providerId="ADAL" clId="{2A5E34EC-CE10-4B86-B8A7-198EDDE604B0}" dt="2026-03-09T21:59:10.192" v="183" actId="20577"/>
      <pc:docMkLst>
        <pc:docMk/>
      </pc:docMkLst>
      <pc:sldChg chg="modSp mod">
        <pc:chgData name="Ernesto Usabiaga Berlanga" userId="be1f46aa-0599-4802-adff-133e439c62c7" providerId="ADAL" clId="{2A5E34EC-CE10-4B86-B8A7-198EDDE604B0}" dt="2026-03-09T21:57:47.190" v="174" actId="1076"/>
        <pc:sldMkLst>
          <pc:docMk/>
          <pc:sldMk cId="0" sldId="256"/>
        </pc:sldMkLst>
        <pc:spChg chg="mod">
          <ac:chgData name="Ernesto Usabiaga Berlanga" userId="be1f46aa-0599-4802-adff-133e439c62c7" providerId="ADAL" clId="{2A5E34EC-CE10-4B86-B8A7-198EDDE604B0}" dt="2026-03-09T21:26:11.608" v="10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Ernesto Usabiaga Berlanga" userId="be1f46aa-0599-4802-adff-133e439c62c7" providerId="ADAL" clId="{2A5E34EC-CE10-4B86-B8A7-198EDDE604B0}" dt="2026-03-09T21:26:43.038" v="69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Ernesto Usabiaga Berlanga" userId="be1f46aa-0599-4802-adff-133e439c62c7" providerId="ADAL" clId="{2A5E34EC-CE10-4B86-B8A7-198EDDE604B0}" dt="2026-03-09T21:57:25.906" v="171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Ernesto Usabiaga Berlanga" userId="be1f46aa-0599-4802-adff-133e439c62c7" providerId="ADAL" clId="{2A5E34EC-CE10-4B86-B8A7-198EDDE604B0}" dt="2026-03-09T21:57:32.712" v="172" actId="1076"/>
          <ac:spMkLst>
            <pc:docMk/>
            <pc:sldMk cId="0" sldId="256"/>
            <ac:spMk id="18" creationId="{00000000-0000-0000-0000-000000000000}"/>
          </ac:spMkLst>
        </pc:spChg>
        <pc:picChg chg="mod">
          <ac:chgData name="Ernesto Usabiaga Berlanga" userId="be1f46aa-0599-4802-adff-133e439c62c7" providerId="ADAL" clId="{2A5E34EC-CE10-4B86-B8A7-198EDDE604B0}" dt="2026-03-09T21:57:47.190" v="174" actId="1076"/>
          <ac:picMkLst>
            <pc:docMk/>
            <pc:sldMk cId="0" sldId="256"/>
            <ac:picMk id="9" creationId="{00000000-0000-0000-0000-000000000000}"/>
          </ac:picMkLst>
        </pc:picChg>
      </pc:sldChg>
      <pc:sldChg chg="modSp mod">
        <pc:chgData name="Ernesto Usabiaga Berlanga" userId="be1f46aa-0599-4802-adff-133e439c62c7" providerId="ADAL" clId="{2A5E34EC-CE10-4B86-B8A7-198EDDE604B0}" dt="2026-03-09T21:29:16.745" v="94" actId="20577"/>
        <pc:sldMkLst>
          <pc:docMk/>
          <pc:sldMk cId="0" sldId="258"/>
        </pc:sldMkLst>
        <pc:spChg chg="mod">
          <ac:chgData name="Ernesto Usabiaga Berlanga" userId="be1f46aa-0599-4802-adff-133e439c62c7" providerId="ADAL" clId="{2A5E34EC-CE10-4B86-B8A7-198EDDE604B0}" dt="2026-03-09T21:27:40.984" v="79" actId="20577"/>
          <ac:spMkLst>
            <pc:docMk/>
            <pc:sldMk cId="0" sldId="258"/>
            <ac:spMk id="9" creationId="{00000000-0000-0000-0000-000000000000}"/>
          </ac:spMkLst>
        </pc:spChg>
        <pc:spChg chg="mod">
          <ac:chgData name="Ernesto Usabiaga Berlanga" userId="be1f46aa-0599-4802-adff-133e439c62c7" providerId="ADAL" clId="{2A5E34EC-CE10-4B86-B8A7-198EDDE604B0}" dt="2026-03-09T21:28:28.175" v="89" actId="120"/>
          <ac:spMkLst>
            <pc:docMk/>
            <pc:sldMk cId="0" sldId="258"/>
            <ac:spMk id="15" creationId="{00000000-0000-0000-0000-000000000000}"/>
          </ac:spMkLst>
        </pc:spChg>
        <pc:spChg chg="mod">
          <ac:chgData name="Ernesto Usabiaga Berlanga" userId="be1f46aa-0599-4802-adff-133e439c62c7" providerId="ADAL" clId="{2A5E34EC-CE10-4B86-B8A7-198EDDE604B0}" dt="2026-03-09T21:29:16.745" v="94" actId="20577"/>
          <ac:spMkLst>
            <pc:docMk/>
            <pc:sldMk cId="0" sldId="258"/>
            <ac:spMk id="20" creationId="{00000000-0000-0000-0000-000000000000}"/>
          </ac:spMkLst>
        </pc:spChg>
        <pc:spChg chg="mod">
          <ac:chgData name="Ernesto Usabiaga Berlanga" userId="be1f46aa-0599-4802-adff-133e439c62c7" providerId="ADAL" clId="{2A5E34EC-CE10-4B86-B8A7-198EDDE604B0}" dt="2026-03-09T21:28:11.133" v="87" actId="403"/>
          <ac:spMkLst>
            <pc:docMk/>
            <pc:sldMk cId="0" sldId="258"/>
            <ac:spMk id="25" creationId="{00000000-0000-0000-0000-000000000000}"/>
          </ac:spMkLst>
        </pc:spChg>
      </pc:sldChg>
      <pc:sldChg chg="modSp mod">
        <pc:chgData name="Ernesto Usabiaga Berlanga" userId="be1f46aa-0599-4802-adff-133e439c62c7" providerId="ADAL" clId="{2A5E34EC-CE10-4B86-B8A7-198EDDE604B0}" dt="2026-03-09T21:30:44.001" v="123" actId="20577"/>
        <pc:sldMkLst>
          <pc:docMk/>
          <pc:sldMk cId="0" sldId="259"/>
        </pc:sldMkLst>
        <pc:spChg chg="mod">
          <ac:chgData name="Ernesto Usabiaga Berlanga" userId="be1f46aa-0599-4802-adff-133e439c62c7" providerId="ADAL" clId="{2A5E34EC-CE10-4B86-B8A7-198EDDE604B0}" dt="2026-03-09T21:30:44.001" v="123" actId="20577"/>
          <ac:spMkLst>
            <pc:docMk/>
            <pc:sldMk cId="0" sldId="259"/>
            <ac:spMk id="42" creationId="{00000000-0000-0000-0000-000000000000}"/>
          </ac:spMkLst>
        </pc:spChg>
      </pc:sldChg>
      <pc:sldChg chg="modSp mod">
        <pc:chgData name="Ernesto Usabiaga Berlanga" userId="be1f46aa-0599-4802-adff-133e439c62c7" providerId="ADAL" clId="{2A5E34EC-CE10-4B86-B8A7-198EDDE604B0}" dt="2026-03-09T21:51:09.713" v="136" actId="1076"/>
        <pc:sldMkLst>
          <pc:docMk/>
          <pc:sldMk cId="0" sldId="262"/>
        </pc:sldMkLst>
        <pc:picChg chg="mod">
          <ac:chgData name="Ernesto Usabiaga Berlanga" userId="be1f46aa-0599-4802-adff-133e439c62c7" providerId="ADAL" clId="{2A5E34EC-CE10-4B86-B8A7-198EDDE604B0}" dt="2026-03-09T21:50:51.954" v="134" actId="1076"/>
          <ac:picMkLst>
            <pc:docMk/>
            <pc:sldMk cId="0" sldId="262"/>
            <ac:picMk id="28" creationId="{00000000-0000-0000-0000-000000000000}"/>
          </ac:picMkLst>
        </pc:picChg>
        <pc:picChg chg="mod">
          <ac:chgData name="Ernesto Usabiaga Berlanga" userId="be1f46aa-0599-4802-adff-133e439c62c7" providerId="ADAL" clId="{2A5E34EC-CE10-4B86-B8A7-198EDDE604B0}" dt="2026-03-09T21:50:58.362" v="135" actId="1076"/>
          <ac:picMkLst>
            <pc:docMk/>
            <pc:sldMk cId="0" sldId="262"/>
            <ac:picMk id="31" creationId="{00000000-0000-0000-0000-000000000000}"/>
          </ac:picMkLst>
        </pc:picChg>
        <pc:picChg chg="mod">
          <ac:chgData name="Ernesto Usabiaga Berlanga" userId="be1f46aa-0599-4802-adff-133e439c62c7" providerId="ADAL" clId="{2A5E34EC-CE10-4B86-B8A7-198EDDE604B0}" dt="2026-03-09T21:51:09.713" v="136" actId="1076"/>
          <ac:picMkLst>
            <pc:docMk/>
            <pc:sldMk cId="0" sldId="262"/>
            <ac:picMk id="37" creationId="{00000000-0000-0000-0000-000000000000}"/>
          </ac:picMkLst>
        </pc:picChg>
      </pc:sldChg>
      <pc:sldChg chg="modSp mod">
        <pc:chgData name="Ernesto Usabiaga Berlanga" userId="be1f46aa-0599-4802-adff-133e439c62c7" providerId="ADAL" clId="{2A5E34EC-CE10-4B86-B8A7-198EDDE604B0}" dt="2026-03-09T21:33:40.331" v="133" actId="1076"/>
        <pc:sldMkLst>
          <pc:docMk/>
          <pc:sldMk cId="0" sldId="264"/>
        </pc:sldMkLst>
        <pc:spChg chg="mod">
          <ac:chgData name="Ernesto Usabiaga Berlanga" userId="be1f46aa-0599-4802-adff-133e439c62c7" providerId="ADAL" clId="{2A5E34EC-CE10-4B86-B8A7-198EDDE604B0}" dt="2026-03-09T21:33:19.047" v="131" actId="20577"/>
          <ac:spMkLst>
            <pc:docMk/>
            <pc:sldMk cId="0" sldId="264"/>
            <ac:spMk id="12" creationId="{00000000-0000-0000-0000-000000000000}"/>
          </ac:spMkLst>
        </pc:spChg>
        <pc:spChg chg="mod">
          <ac:chgData name="Ernesto Usabiaga Berlanga" userId="be1f46aa-0599-4802-adff-133e439c62c7" providerId="ADAL" clId="{2A5E34EC-CE10-4B86-B8A7-198EDDE604B0}" dt="2026-03-09T21:33:40.331" v="133" actId="1076"/>
          <ac:spMkLst>
            <pc:docMk/>
            <pc:sldMk cId="0" sldId="264"/>
            <ac:spMk id="28" creationId="{00000000-0000-0000-0000-000000000000}"/>
          </ac:spMkLst>
        </pc:spChg>
        <pc:spChg chg="mod">
          <ac:chgData name="Ernesto Usabiaga Berlanga" userId="be1f46aa-0599-4802-adff-133e439c62c7" providerId="ADAL" clId="{2A5E34EC-CE10-4B86-B8A7-198EDDE604B0}" dt="2026-03-09T21:33:34.126" v="132" actId="1076"/>
          <ac:spMkLst>
            <pc:docMk/>
            <pc:sldMk cId="0" sldId="264"/>
            <ac:spMk id="29" creationId="{00000000-0000-0000-0000-000000000000}"/>
          </ac:spMkLst>
        </pc:spChg>
      </pc:sldChg>
      <pc:sldChg chg="modSp mod">
        <pc:chgData name="Ernesto Usabiaga Berlanga" userId="be1f46aa-0599-4802-adff-133e439c62c7" providerId="ADAL" clId="{2A5E34EC-CE10-4B86-B8A7-198EDDE604B0}" dt="2026-03-09T21:59:10.192" v="183" actId="20577"/>
        <pc:sldMkLst>
          <pc:docMk/>
          <pc:sldMk cId="0" sldId="265"/>
        </pc:sldMkLst>
        <pc:spChg chg="mod">
          <ac:chgData name="Ernesto Usabiaga Berlanga" userId="be1f46aa-0599-4802-adff-133e439c62c7" providerId="ADAL" clId="{2A5E34EC-CE10-4B86-B8A7-198EDDE604B0}" dt="2026-03-09T21:59:10.192" v="183" actId="20577"/>
          <ac:spMkLst>
            <pc:docMk/>
            <pc:sldMk cId="0" sldId="265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2472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8732520" cy="64008"/>
          </a:xfrm>
          <a:prstGeom prst="rect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400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RestSus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B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que transforma tu empresa de food service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14B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socio tecnológico indispensable del restaurante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788920"/>
            <a:ext cx="5303520" cy="27432"/>
          </a:xfrm>
          <a:prstGeom prst="rect">
            <a:avLst/>
          </a:prstGeom>
          <a:solidFill>
            <a:srgbClr val="F4A429">
              <a:alpha val="60000"/>
            </a:srgbClr>
          </a:solidFill>
          <a:ln w="12700">
            <a:solidFill>
              <a:srgbClr val="F4A429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26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Mercado: México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502920"/>
            <a:ext cx="2286000" cy="2286000"/>
          </a:xfrm>
          <a:prstGeom prst="ellipse">
            <a:avLst/>
          </a:prstGeom>
          <a:solidFill>
            <a:srgbClr val="1A3A5C"/>
          </a:solidFill>
          <a:ln w="25400">
            <a:solidFill>
              <a:srgbClr val="0D7377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885139"/>
            <a:ext cx="1371600" cy="1371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5800" y="3383280"/>
            <a:ext cx="2606040" cy="1417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3438144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580,000+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77240" y="404164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Restaurantes en México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502152" y="3383280"/>
            <a:ext cx="2606040" cy="1417320"/>
          </a:xfrm>
          <a:prstGeom prst="rect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02152" y="3438144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3593592" y="404164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software de gestión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18504" y="3387852"/>
            <a:ext cx="2606040" cy="1417320"/>
          </a:xfrm>
          <a:prstGeom prst="rect">
            <a:avLst/>
          </a:prstGeom>
          <a:solidFill>
            <a:srgbClr val="1A3A5C"/>
          </a:solidFill>
          <a:ln w="19050">
            <a:solidFill>
              <a:srgbClr val="1A3A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18504" y="3438144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409944" y="404530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 </a:t>
            </a:r>
            <a:r>
              <a:rPr lang="es-MX" sz="12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explotación en México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restaurantes operan a ciegas — y sus proveedores también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97280"/>
            <a:ext cx="4160520" cy="1627632"/>
          </a:xfrm>
          <a:prstGeom prst="rect">
            <a:avLst/>
          </a:prstGeom>
          <a:solidFill>
            <a:srgbClr val="0D1B2A"/>
          </a:solidFill>
          <a:ln w="12700">
            <a:solidFill>
              <a:srgbClr val="E848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97280"/>
            <a:ext cx="64008" cy="162763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563624"/>
            <a:ext cx="749808" cy="749808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27632"/>
            <a:ext cx="621792" cy="6217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44168" y="1225296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A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 de inventario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344168" y="1609344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 cada 10 restaurantes gestionan su stock en Excel o cuaderno. No saben cuánto tienen hasta que se les acaba.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663440" y="1097280"/>
            <a:ext cx="4160520" cy="1627632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1097280"/>
            <a:ext cx="64008" cy="16276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46320" y="1563624"/>
            <a:ext cx="749808" cy="74980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627632"/>
            <a:ext cx="621792" cy="62179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87568" y="1225296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A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cost desconocido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5687568" y="1609344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saben si cada platillo genera utilidad real. La rentabilidad se revisa cuando ya es tarde para actuar.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320040" y="2971800"/>
            <a:ext cx="4160520" cy="16276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7377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0040" y="2971800"/>
            <a:ext cx="64008" cy="16276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02920" y="3438144"/>
            <a:ext cx="749808" cy="7498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502152"/>
            <a:ext cx="621792" cy="62179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44168" y="3099816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A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reactivas y costosas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1344168" y="3483864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pide cuando se termina el insumo, no cuando el negocio lo necesita. Genera urgencias, sobrecostos y merma.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4663440" y="2971800"/>
            <a:ext cx="4160520" cy="1627632"/>
          </a:xfrm>
          <a:prstGeom prst="rect">
            <a:avLst/>
          </a:prstGeom>
          <a:solidFill>
            <a:srgbClr val="0D1B2A"/>
          </a:solidFill>
          <a:ln w="12700">
            <a:solidFill>
              <a:srgbClr val="F4A429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663440" y="2971800"/>
            <a:ext cx="64008" cy="1627632"/>
          </a:xfrm>
          <a:prstGeom prst="rect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846320" y="3438144"/>
            <a:ext cx="749808" cy="749808"/>
          </a:xfrm>
          <a:prstGeom prst="ellipse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502152"/>
            <a:ext cx="621792" cy="62179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687568" y="3099816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A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proveedor es invisible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5687568" y="3483864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vendedor llama sin datos. Sin visibilidad del consumo real, las ventas dependen solo de la relación personal.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8778240" y="4846320"/>
            <a:ext cx="292608" cy="1828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8778240" y="48463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CRM gratuito para restaurantes, financiado por volumen de compra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78992"/>
            <a:ext cx="8321040" cy="804672"/>
          </a:xfrm>
          <a:prstGeom prst="rect">
            <a:avLst/>
          </a:prstGeom>
          <a:solidFill>
            <a:srgbClr val="1A3A5C"/>
          </a:solidFill>
          <a:ln w="15240">
            <a:solidFill>
              <a:srgbClr val="F4A42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078992"/>
            <a:ext cx="64008" cy="804672"/>
          </a:xfrm>
          <a:prstGeom prst="rect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11556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propuesta: mientras más me compras, más funcionalidades del CRM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obtienes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148132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restaurante gana una herramienta de gestión profesional. Tú ganas datos, lealtad y ventas predecibles.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920240"/>
            <a:ext cx="2743200" cy="2999232"/>
          </a:xfrm>
          <a:prstGeom prst="rect">
            <a:avLst/>
          </a:prstGeom>
          <a:solidFill>
            <a:srgbClr val="1A3A5C"/>
          </a:solidFill>
          <a:ln w="15240">
            <a:solidFill>
              <a:srgbClr val="0D7377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1920240"/>
            <a:ext cx="2743200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947672"/>
            <a:ext cx="402336" cy="40233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69264" y="1956816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Restaurante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12064" y="2615184"/>
            <a:ext cx="245059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4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Inventario en tiempo real</a:t>
            </a:r>
            <a:endParaRPr lang="en-US" sz="14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4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Costeo de platillos automático</a:t>
            </a:r>
            <a:endParaRPr lang="en-US" sz="14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4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Control de merma</a:t>
            </a:r>
            <a:endParaRPr lang="en-US" sz="14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4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Recetas estandarizadas</a:t>
            </a:r>
            <a:endParaRPr lang="en-US" sz="14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4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Alertas de stock crítico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227832" y="1920240"/>
            <a:ext cx="2743200" cy="2999232"/>
          </a:xfrm>
          <a:prstGeom prst="rect">
            <a:avLst/>
          </a:prstGeom>
          <a:solidFill>
            <a:srgbClr val="1A3A5C"/>
          </a:solidFill>
          <a:ln w="15240">
            <a:solidFill>
              <a:srgbClr val="F4A429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27832" y="1920240"/>
            <a:ext cx="2743200" cy="621792"/>
          </a:xfrm>
          <a:prstGeom prst="rect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947672"/>
            <a:ext cx="402336" cy="4023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849624" y="1956816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Tu Empresa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392424" y="2615184"/>
            <a:ext cx="245059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4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Dashboard de consumo por  </a:t>
            </a:r>
            <a:r>
              <a:rPr lang="en-US" sz="1400" dirty="0" err="1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4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4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Pedidos sugeridos con 1 clic</a:t>
            </a:r>
            <a:endParaRPr lang="en-US" sz="14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4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Anticipas lo que necesitan</a:t>
            </a:r>
            <a:endParaRPr lang="en-US" sz="14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4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Alertas de reposición automáticas</a:t>
            </a:r>
            <a:endParaRPr lang="en-US" sz="14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4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Menos fricción en cada venta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108192" y="1920240"/>
            <a:ext cx="2743200" cy="2999232"/>
          </a:xfrm>
          <a:prstGeom prst="rect">
            <a:avLst/>
          </a:prstGeom>
          <a:solidFill>
            <a:srgbClr val="1A3A5C"/>
          </a:solidFill>
          <a:ln w="15240">
            <a:solidFill>
              <a:srgbClr val="E848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08192" y="1920240"/>
            <a:ext cx="2743200" cy="62179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1947672"/>
            <a:ext cx="402336" cy="40233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729984" y="1956816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Estructural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272784" y="2615184"/>
            <a:ext cx="245059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4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Historial de datos acumulado</a:t>
            </a:r>
            <a:endParaRPr lang="en-US" sz="14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4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Recetas integradas al sistema</a:t>
            </a:r>
            <a:endParaRPr lang="en-US" sz="14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4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Conexión con su POS/ERP</a:t>
            </a:r>
            <a:endParaRPr lang="en-US" sz="14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4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Benchmarks del sector</a:t>
            </a:r>
            <a:endParaRPr lang="en-US" sz="14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4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Cambiar de proveedor = perderlo todo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8778240" y="4846320"/>
            <a:ext cx="292608" cy="1828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778240" y="48463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PARA EL RESTAURANTE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real que hace irresistible la adopción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97280"/>
            <a:ext cx="2697480" cy="1664208"/>
          </a:xfrm>
          <a:prstGeom prst="rect">
            <a:avLst/>
          </a:prstGeom>
          <a:solidFill>
            <a:srgbClr val="0D1B2A"/>
          </a:solidFill>
          <a:ln w="10160">
            <a:solidFill>
              <a:srgbClr val="0D7377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97280"/>
            <a:ext cx="59436" cy="16642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554480"/>
            <a:ext cx="658368" cy="6583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18488"/>
            <a:ext cx="530352" cy="5303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16152" y="11887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Cost en Tiempo Real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16152" y="160020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Saben al instante si cada platillo es rentable. Cuando sube el precio de la res, el sistema recalcula solo.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18688" y="1097280"/>
            <a:ext cx="2697480" cy="1664208"/>
          </a:xfrm>
          <a:prstGeom prst="rect">
            <a:avLst/>
          </a:prstGeom>
          <a:solidFill>
            <a:srgbClr val="0D1B2A"/>
          </a:solidFill>
          <a:ln w="10160">
            <a:solidFill>
              <a:srgbClr val="F4A429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18688" y="1097280"/>
            <a:ext cx="59436" cy="1664208"/>
          </a:xfrm>
          <a:prstGeom prst="rect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83280" y="1554480"/>
            <a:ext cx="658368" cy="658368"/>
          </a:xfrm>
          <a:prstGeom prst="ellipse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1618488"/>
            <a:ext cx="530352" cy="5303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114800" y="11887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se quedan sin stock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114800" y="160020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cuando un insumo está por agotarse. El sistema sugiere cuánto pedir y cuándo.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108192" y="1097280"/>
            <a:ext cx="2697480" cy="1664208"/>
          </a:xfrm>
          <a:prstGeom prst="rect">
            <a:avLst/>
          </a:prstGeom>
          <a:solidFill>
            <a:srgbClr val="0D1B2A"/>
          </a:solidFill>
          <a:ln w="10160">
            <a:solidFill>
              <a:srgbClr val="1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08192" y="1097280"/>
            <a:ext cx="59436" cy="16642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72784" y="1554480"/>
            <a:ext cx="658368" cy="65836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1618488"/>
            <a:ext cx="530352" cy="53035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004304" y="11887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Recetas Estandarizadas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7004304" y="160020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conocimiento del chef queda en el sistema. Nuevos empleados siguen el mismo estándar desde el día 1.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320040" y="2926080"/>
            <a:ext cx="2697480" cy="1664208"/>
          </a:xfrm>
          <a:prstGeom prst="rect">
            <a:avLst/>
          </a:prstGeom>
          <a:solidFill>
            <a:srgbClr val="0D1B2A"/>
          </a:solidFill>
          <a:ln w="10160">
            <a:solidFill>
              <a:srgbClr val="E848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20040" y="2926080"/>
            <a:ext cx="59436" cy="166420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84632" y="3383280"/>
            <a:ext cx="658368" cy="658368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447288"/>
            <a:ext cx="530352" cy="53035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216152" y="30175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para Tomar Decisiones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1216152" y="342900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 qué platillos son los más rentables (no solo los más vendidos) y pueden optimizar su menú con información real.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3218688" y="2926080"/>
            <a:ext cx="2697480" cy="1664208"/>
          </a:xfrm>
          <a:prstGeom prst="rect">
            <a:avLst/>
          </a:prstGeom>
          <a:solidFill>
            <a:srgbClr val="0D1B2A"/>
          </a:solidFill>
          <a:ln w="10160">
            <a:solidFill>
              <a:srgbClr val="0D7377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218688" y="2926080"/>
            <a:ext cx="59436" cy="16642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3383280" y="3383280"/>
            <a:ext cx="658368" cy="6583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7288" y="3447288"/>
            <a:ext cx="530352" cy="53035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114800" y="30175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la Merma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4114800" y="342900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Identifican dónde se pierde el producto: por caducidad, por porcionado incorrecto o por robo. El promedio de merma en restaurantes sin control es 10–15% del costo.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6108192" y="2926080"/>
            <a:ext cx="2697480" cy="1664208"/>
          </a:xfrm>
          <a:prstGeom prst="rect">
            <a:avLst/>
          </a:prstGeom>
          <a:solidFill>
            <a:srgbClr val="0D1B2A"/>
          </a:solidFill>
          <a:ln w="10160">
            <a:solidFill>
              <a:srgbClr val="F4A429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6108192" y="2926080"/>
            <a:ext cx="59436" cy="1664208"/>
          </a:xfrm>
          <a:prstGeom prst="rect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272784" y="3383280"/>
            <a:ext cx="658368" cy="658368"/>
          </a:xfrm>
          <a:prstGeom prst="ellipse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6792" y="3447288"/>
            <a:ext cx="530352" cy="53035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004304" y="30175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Profesional Gratuita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7004304" y="342900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Acceden a una herramienta que normalmente cuesta $1,500–$3,000 MXN/mes sin costo, solo por comprarle a </a:t>
            </a:r>
            <a:r>
              <a:rPr lang="en-US" sz="1050" dirty="0" err="1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Susazón</a:t>
            </a: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43" name="Shape 35"/>
          <p:cNvSpPr/>
          <p:nvPr/>
        </p:nvSpPr>
        <p:spPr>
          <a:xfrm>
            <a:off x="8778240" y="4846320"/>
            <a:ext cx="292608" cy="1828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8778240" y="48463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PARA TU EMPRESA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CRM convierte datos operativos en ventas inteligentes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097280"/>
            <a:ext cx="4114800" cy="914400"/>
          </a:xfrm>
          <a:prstGeom prst="rect">
            <a:avLst/>
          </a:prstGeom>
          <a:solidFill>
            <a:srgbClr val="1A3A5C"/>
          </a:solidFill>
          <a:ln w="10160">
            <a:solidFill>
              <a:srgbClr val="0D7377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097280"/>
            <a:ext cx="59436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" y="1261872"/>
            <a:ext cx="658368" cy="6583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325880"/>
            <a:ext cx="530352" cy="5303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61872" y="11887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total del consumo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261872" y="15544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Sabes exactamente qué compra cada restaurante, qué le falta y a qué competidor le compra lo que tú podrías suplir.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45152" y="1097280"/>
            <a:ext cx="4114800" cy="914400"/>
          </a:xfrm>
          <a:prstGeom prst="rect">
            <a:avLst/>
          </a:prstGeom>
          <a:solidFill>
            <a:srgbClr val="1A3A5C"/>
          </a:solidFill>
          <a:ln w="10160">
            <a:solidFill>
              <a:srgbClr val="F4A429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45152" y="1097280"/>
            <a:ext cx="59436" cy="914400"/>
          </a:xfrm>
          <a:prstGeom prst="rect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09744" y="1261872"/>
            <a:ext cx="658368" cy="658368"/>
          </a:xfrm>
          <a:prstGeom prst="ellipse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325880"/>
            <a:ext cx="530352" cy="5303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59552" y="11887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reposición automáticas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559552" y="15544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detecta cuándo un cliente está por quedarse sin stock de un producto tuyo. Tu equipo de ventas actúa antes de que pidan.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47472" y="2212848"/>
            <a:ext cx="4114800" cy="914400"/>
          </a:xfrm>
          <a:prstGeom prst="rect">
            <a:avLst/>
          </a:prstGeom>
          <a:solidFill>
            <a:srgbClr val="1A3A5C"/>
          </a:solidFill>
          <a:ln w="10160">
            <a:solidFill>
              <a:srgbClr val="0D7377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47472" y="2212848"/>
            <a:ext cx="59436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12064" y="2377440"/>
            <a:ext cx="658368" cy="6583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2441448"/>
            <a:ext cx="530352" cy="53035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61872" y="230428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con un clic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261872" y="26700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CRM genera la orden de compra sugerida y la envía directo a tu sistema. Sin llamadas, sin WhatsApp, sin fricción.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645152" y="2212848"/>
            <a:ext cx="4114800" cy="914400"/>
          </a:xfrm>
          <a:prstGeom prst="rect">
            <a:avLst/>
          </a:prstGeom>
          <a:solidFill>
            <a:srgbClr val="1A3A5C"/>
          </a:solidFill>
          <a:ln w="10160">
            <a:solidFill>
              <a:srgbClr val="F4A429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645152" y="2212848"/>
            <a:ext cx="59436" cy="914400"/>
          </a:xfrm>
          <a:prstGeom prst="rect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809744" y="2377440"/>
            <a:ext cx="658368" cy="658368"/>
          </a:xfrm>
          <a:prstGeom prst="ellipse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2441448"/>
            <a:ext cx="530352" cy="53035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59552" y="230428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anticipadas, no reactivas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559552" y="26700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historial de consumo de cada cliente, predices cuánto van a comprar la semana que viene. Planeas mejor tu inventario y el tuyo.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347472" y="3328416"/>
            <a:ext cx="4114800" cy="914400"/>
          </a:xfrm>
          <a:prstGeom prst="rect">
            <a:avLst/>
          </a:prstGeom>
          <a:solidFill>
            <a:srgbClr val="1A3A5C"/>
          </a:solidFill>
          <a:ln w="10160">
            <a:solidFill>
              <a:srgbClr val="0D7377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47472" y="3328416"/>
            <a:ext cx="59436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12064" y="3493008"/>
            <a:ext cx="658368" cy="6583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557016"/>
            <a:ext cx="530352" cy="53035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261872" y="341985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Lealtad estructural, no emocional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1261872" y="378561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restaurante no te cambia por precio porque perdería su historial, sus recetas integradas y sus benchmarks. El costo de salida es muy alto.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4645152" y="3328416"/>
            <a:ext cx="4114800" cy="914400"/>
          </a:xfrm>
          <a:prstGeom prst="rect">
            <a:avLst/>
          </a:prstGeom>
          <a:solidFill>
            <a:srgbClr val="1A3A5C"/>
          </a:solidFill>
          <a:ln w="10160">
            <a:solidFill>
              <a:srgbClr val="F4A429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4645152" y="3328416"/>
            <a:ext cx="59436" cy="914400"/>
          </a:xfrm>
          <a:prstGeom prst="rect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4809744" y="3493008"/>
            <a:ext cx="658368" cy="658368"/>
          </a:xfrm>
          <a:prstGeom prst="ellipse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3752" y="3557016"/>
            <a:ext cx="530352" cy="53035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559552" y="341985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conviertes en socio, no proveedor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5559552" y="378561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Dejas de competir por precio y empiezas a ser indispensable. El restaurante te ve como parte de su operación, no como un vendedor más.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8778240" y="4846320"/>
            <a:ext cx="292608" cy="1828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8778240" y="48463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DE MERCADO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mercado masivo, subdigitalizado y con gasto diario en proteínas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97280"/>
            <a:ext cx="4114800" cy="15727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7377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54480"/>
            <a:ext cx="731520" cy="7315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618488"/>
            <a:ext cx="603504" cy="6035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99032" y="126187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580,000+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1399032" y="1956816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Restaurantes activos en México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09160" y="1097280"/>
            <a:ext cx="4114800" cy="1572768"/>
          </a:xfrm>
          <a:prstGeom prst="rect">
            <a:avLst/>
          </a:prstGeom>
          <a:solidFill>
            <a:srgbClr val="0D1B2A"/>
          </a:solidFill>
          <a:ln w="12700">
            <a:solidFill>
              <a:srgbClr val="E848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37760" y="1554480"/>
            <a:ext cx="731520" cy="731520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618488"/>
            <a:ext cx="603504" cy="6035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88152" y="126187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3%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5788152" y="1956816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Tienen software de gestión operativa hoy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20040" y="2907792"/>
            <a:ext cx="4114800" cy="1572768"/>
          </a:xfrm>
          <a:prstGeom prst="rect">
            <a:avLst/>
          </a:prstGeom>
          <a:solidFill>
            <a:srgbClr val="0D1B2A"/>
          </a:solidFill>
          <a:ln w="12700">
            <a:solidFill>
              <a:srgbClr val="F4A429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8640" y="3364992"/>
            <a:ext cx="731520" cy="731520"/>
          </a:xfrm>
          <a:prstGeom prst="ellipse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429000"/>
            <a:ext cx="603504" cy="60350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99032" y="307238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A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MDP</a:t>
            </a:r>
            <a:endParaRPr lang="en-US" sz="3200" dirty="0"/>
          </a:p>
        </p:txBody>
      </p:sp>
      <p:sp>
        <p:nvSpPr>
          <p:cNvPr id="21" name="Text 16"/>
          <p:cNvSpPr/>
          <p:nvPr/>
        </p:nvSpPr>
        <p:spPr>
          <a:xfrm>
            <a:off x="1399032" y="376732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anual en proteínas animales en el sector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709160" y="2907792"/>
            <a:ext cx="4114800" cy="1572768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937760" y="3364992"/>
            <a:ext cx="731520" cy="7315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3429000"/>
            <a:ext cx="603504" cy="60350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788152" y="307238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clientes</a:t>
            </a:r>
            <a:endParaRPr lang="en-US" sz="3200" dirty="0"/>
          </a:p>
        </p:txBody>
      </p:sp>
      <p:sp>
        <p:nvSpPr>
          <p:cNvPr id="26" name="Text 20"/>
          <p:cNvSpPr/>
          <p:nvPr/>
        </p:nvSpPr>
        <p:spPr>
          <a:xfrm>
            <a:off x="5788152" y="376732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Restaurantes con los que ya tienes relación comercial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320040" y="4709160"/>
            <a:ext cx="8503920" cy="256032"/>
          </a:xfrm>
          <a:prstGeom prst="rect">
            <a:avLst/>
          </a:prstGeom>
          <a:solidFill>
            <a:srgbClr val="1A3A5C"/>
          </a:solidFill>
          <a:ln w="10160">
            <a:solidFill>
              <a:srgbClr val="0D7377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57200" y="47091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Ventaja clave: ya tienes relación con 200+ restaurantes. El costo de adquisición del primer cliente es prácticamente cero.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8778240" y="4846320"/>
            <a:ext cx="292608" cy="1828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778240" y="48463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gratis condicionado a compra mínima mensual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43000"/>
            <a:ext cx="8458200" cy="896112"/>
          </a:xfrm>
          <a:prstGeom prst="rect">
            <a:avLst/>
          </a:prstGeom>
          <a:solidFill>
            <a:srgbClr val="1A3A5C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143000"/>
            <a:ext cx="64008" cy="8961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399032"/>
            <a:ext cx="137160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3990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119786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mínima mensual baja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03120" y="161848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· Recetas · Food cost · Órdenes de compra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7472" y="2167128"/>
            <a:ext cx="8458200" cy="896112"/>
          </a:xfrm>
          <a:prstGeom prst="rect">
            <a:avLst/>
          </a:prstGeom>
          <a:solidFill>
            <a:srgbClr val="1A3A5C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167128"/>
            <a:ext cx="64008" cy="896112"/>
          </a:xfrm>
          <a:prstGeom prst="rect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423160"/>
            <a:ext cx="1371600" cy="384048"/>
          </a:xfrm>
          <a:prstGeom prst="rect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423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03120" y="22219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mínima mensual media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03120" y="2642616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anterior + Pronósticos · Benchmarks · App móvil · Alertas avanzadas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7472" y="3191256"/>
            <a:ext cx="8458200" cy="896112"/>
          </a:xfrm>
          <a:prstGeom prst="rect">
            <a:avLst/>
          </a:prstGeom>
          <a:solidFill>
            <a:srgbClr val="1A3A5C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3191256"/>
            <a:ext cx="64008" cy="89611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447288"/>
            <a:ext cx="1371600" cy="38404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4472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03120" y="3246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mínima mensual alta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03120" y="3666744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anterior + Integración POS · Analista dedicado · Crédito preferente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47472" y="4315968"/>
            <a:ext cx="8458200" cy="658368"/>
          </a:xfrm>
          <a:prstGeom prst="rect">
            <a:avLst/>
          </a:prstGeom>
          <a:solidFill>
            <a:srgbClr val="0A2030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0412" y="43342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3192" y="460857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 se registra</a:t>
            </a:r>
            <a:endParaRPr lang="en-US" sz="95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944" y="4550054"/>
            <a:ext cx="256032" cy="25603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2702052" y="43342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2084832" y="460857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su nivel según su compra mensual</a:t>
            </a:r>
            <a:endParaRPr lang="en-US" sz="95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548" y="4550054"/>
            <a:ext cx="256032" cy="25603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4393692" y="43342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3776472" y="460857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el CRM gratis</a:t>
            </a:r>
            <a:endParaRPr lang="en-US" sz="95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224" y="4535424"/>
            <a:ext cx="256032" cy="25603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085332" y="43342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5468112" y="460857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pedidos van directo a ti</a:t>
            </a:r>
            <a:endParaRPr lang="en-US" sz="950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296" y="4539082"/>
            <a:ext cx="256032" cy="25603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776972" y="43342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Text 33"/>
          <p:cNvSpPr/>
          <p:nvPr/>
        </p:nvSpPr>
        <p:spPr>
          <a:xfrm>
            <a:off x="7159752" y="460857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mayor uso → mayor dependencia → mayor lealtad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8778240" y="4846320"/>
            <a:ext cx="292608" cy="1828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8778240" y="48463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COMPETITIVA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barreras que se refuerzan con el tiempo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97280"/>
            <a:ext cx="411480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7377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97280"/>
            <a:ext cx="64008" cy="1691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595628"/>
            <a:ext cx="749808" cy="7498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59636"/>
            <a:ext cx="621792" cy="6217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44168" y="124358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Propietarios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44168" y="16459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Acumulas el consumo real de proteínas de cientos de restaurantes. Nadie más en México tendrá esta visibilidad del mercado.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645152" y="1097280"/>
            <a:ext cx="411480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F4A429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45152" y="1097280"/>
            <a:ext cx="64008" cy="1691640"/>
          </a:xfrm>
          <a:prstGeom prst="rect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28032" y="1595628"/>
            <a:ext cx="749808" cy="749808"/>
          </a:xfrm>
          <a:prstGeom prst="ellipse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659636"/>
            <a:ext cx="621792" cy="62179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69280" y="124358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Cost Alto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669280" y="16459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12 meses, el restaurante tiene historial, recetas digitalizadas, integraciones POS y benchmarks dentro del sistema. Migrar es costoso y doloroso.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320040" y="3017520"/>
            <a:ext cx="411480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E848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0040" y="3017520"/>
            <a:ext cx="64008" cy="16916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02920" y="3515868"/>
            <a:ext cx="749808" cy="749808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579876"/>
            <a:ext cx="621792" cy="62179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44168" y="316382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de Red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344168" y="35661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más restaurantes en la plataforma, los benchmarks son más ricos y precisos. El valor del sistema crece con cada nuevo usuario que se suma.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4645152" y="3017520"/>
            <a:ext cx="411480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645152" y="3017520"/>
            <a:ext cx="64008" cy="1691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828032" y="3515868"/>
            <a:ext cx="749808" cy="74980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579876"/>
            <a:ext cx="621792" cy="62179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669280" y="316382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 de Entrada Alta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5669280" y="35661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Replicar una plataforma con 2+ años de datos y adopción instalada requiere millones de inversión y años de ejecución. La ventaja se compone.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8778240" y="4846320"/>
            <a:ext cx="292608" cy="1828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8778240" y="48463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ARRANCAMOS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fases hacia la plataforma líder de food service en México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670048"/>
            <a:ext cx="7543800" cy="411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450592"/>
            <a:ext cx="530352" cy="530352"/>
          </a:xfrm>
          <a:prstGeom prst="ellipse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50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" y="1508760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meses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310896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Entrevistas con restaurantes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Benchmark de competidores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Mapeo de POS usados por tus clientes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Definición de MVP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07208" y="2450592"/>
            <a:ext cx="530352" cy="53035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07208" y="2450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41448" y="114300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59736" y="1508760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meses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68296" y="310896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Inventario + Recetas + Food cost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Órdenes de compra automáticas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Dashboard comercial interno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Primeras integraciones CSV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91456" y="2450592"/>
            <a:ext cx="530352" cy="530352"/>
          </a:xfrm>
          <a:prstGeom prst="ellipse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2450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25696" y="114300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43984" y="1508760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meses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52544" y="310896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10 restaurantes piloto de tu base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Onboarding personalizado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Validación de adopción y NPS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Ajustes de producto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75704" y="2450592"/>
            <a:ext cx="530352" cy="530352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75704" y="2450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9944" y="114300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28232" y="1508760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36792" y="310896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Integraciones POS (SoftRest, Toast…)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App móvil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500+ restaurantes activos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Expansión a nuevas ciudades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9184" y="4780483"/>
            <a:ext cx="8458200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9262" y="476219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Punto de partida único: ya tienes 200+ clientes restauranteros activos. El piloto puede arrancar en semanas, no meses.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778240" y="4846320"/>
            <a:ext cx="292608" cy="1828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78240" y="48463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8686800" cy="64008"/>
          </a:xfrm>
          <a:prstGeom prst="rect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4114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Oportunidad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13232" y="14630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B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600" i="1">
                <a:solidFill>
                  <a:srgbClr val="14B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onvertirtnos</a:t>
            </a:r>
            <a:r>
              <a:rPr lang="en-US" sz="1600" i="1" dirty="0">
                <a:solidFill>
                  <a:srgbClr val="14B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14B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600" dirty="0"/>
              <a:t> </a:t>
            </a:r>
            <a:r>
              <a:rPr lang="en-US" sz="1600" i="1" dirty="0" err="1">
                <a:solidFill>
                  <a:srgbClr val="14B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600" i="1" dirty="0">
                <a:solidFill>
                  <a:srgbClr val="14B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sistema operativo del restaurante mexicano.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13232" y="2267712"/>
            <a:ext cx="7772400" cy="27432"/>
          </a:xfrm>
          <a:prstGeom prst="rect">
            <a:avLst/>
          </a:prstGeom>
          <a:solidFill>
            <a:srgbClr val="F4A429">
              <a:alpha val="50000"/>
            </a:srgbClr>
          </a:solidFill>
          <a:ln w="12700">
            <a:solidFill>
              <a:srgbClr val="F4A429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441448"/>
            <a:ext cx="640080" cy="6400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05456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245059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restaurante obtiene una herramienta de gestión profesional que no puede pagar solo — gratis.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13232" y="3136392"/>
            <a:ext cx="640080" cy="640080"/>
          </a:xfrm>
          <a:prstGeom prst="ellipse">
            <a:avLst/>
          </a:prstGeom>
          <a:solidFill>
            <a:srgbClr val="F4A429"/>
          </a:solidFill>
          <a:ln w="12700">
            <a:solidFill>
              <a:srgbClr val="F4A429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00400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81328" y="3145536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obtienes datos, lealtad, pedidos automáticos y switching costs tan altos que cambiar de proveedor no tiene sentido.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13232" y="3831336"/>
            <a:ext cx="640080" cy="640080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95344"/>
            <a:ext cx="512064" cy="5120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81328" y="384048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es masivo, subdigitalizado y ya tienes la base de clientes para arrancar. La tecnología es el paso que falta.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713232" y="4590288"/>
            <a:ext cx="777240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22960" y="459028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siguiente paso?  →  Conversación para definir alcance, inversión y equipo de desarrollo.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778240" y="4846320"/>
            <a:ext cx="292608" cy="1828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778240" y="48463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1180</Words>
  <Application>Microsoft Office PowerPoint</Application>
  <PresentationFormat>Presentación en pantalla (16:9)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RestaurantOS – Pitch Deck</dc:title>
  <dc:subject>PptxGenJS Presentation</dc:subject>
  <dc:creator>PptxGenJS</dc:creator>
  <cp:lastModifiedBy>Ernesto Usabiaga Berlanga</cp:lastModifiedBy>
  <cp:revision>1</cp:revision>
  <dcterms:created xsi:type="dcterms:W3CDTF">2026-03-09T21:22:20Z</dcterms:created>
  <dcterms:modified xsi:type="dcterms:W3CDTF">2026-03-09T21:59:12Z</dcterms:modified>
</cp:coreProperties>
</file>